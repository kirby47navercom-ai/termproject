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63" r:id="rId4"/>
    <p:sldId id="262" r:id="rId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705" autoAdjust="0"/>
  </p:normalViewPr>
  <p:slideViewPr>
    <p:cSldViewPr>
      <p:cViewPr>
        <p:scale>
          <a:sx n="90" d="100"/>
          <a:sy n="90" d="100"/>
        </p:scale>
        <p:origin x="-1092" y="-90"/>
      </p:cViewPr>
      <p:guideLst>
        <p:guide orient="horz" pos="3239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presProps" Target="presProps.xml"  /><Relationship Id="rId7" Type="http://schemas.openxmlformats.org/officeDocument/2006/relationships/viewProps" Target="viewProps.xml"  /><Relationship Id="rId8" Type="http://schemas.openxmlformats.org/officeDocument/2006/relationships/theme" Target="theme/theme1.xml"  /><Relationship Id="rId9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2025-11-10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9144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8300700" cy="10325100"/>
          </a:xfrm>
          <a:prstGeom prst="rect">
            <a:avLst/>
          </a:prstGeom>
        </p:spPr>
      </p:pic>
      <p:sp>
        <p:nvSpPr>
          <p:cNvPr id="4" name="가로 글상자 3"/>
          <p:cNvSpPr txBox="1"/>
          <p:nvPr/>
        </p:nvSpPr>
        <p:spPr>
          <a:xfrm>
            <a:off x="9296400" y="8155303"/>
            <a:ext cx="2971800" cy="95059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5700">
                <a:solidFill>
                  <a:schemeClr val="lt1"/>
                </a:solidFill>
              </a:rPr>
              <a:t>2</a:t>
            </a:r>
            <a:r>
              <a:rPr lang="ko-KR" altLang="en-US" sz="5700">
                <a:solidFill>
                  <a:schemeClr val="lt1"/>
                </a:solidFill>
              </a:rPr>
              <a:t>차 발표</a:t>
            </a:r>
            <a:endParaRPr lang="ko-KR" altLang="en-US" sz="5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1"/>
            <a:ext cx="18288000" cy="10286998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667000" y="3238500"/>
            <a:ext cx="12268200" cy="4267200"/>
          </a:xfrm>
          <a:prstGeom prst="rect">
            <a:avLst/>
          </a:prstGeom>
          <a:solidFill>
            <a:srgbClr val="1a191d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3962399" y="329565"/>
            <a:ext cx="10363200" cy="100393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6000" b="1">
                <a:solidFill>
                  <a:schemeClr val="lt1"/>
                </a:solidFill>
              </a:rPr>
              <a:t>개발 계획 대비 현재 진행 상황</a:t>
            </a:r>
            <a:endParaRPr lang="en-US" altLang="ko-KR" sz="6000" b="1">
              <a:solidFill>
                <a:schemeClr val="lt1"/>
              </a:solidFill>
            </a:endParaRPr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/>
        </p:nvGraphicFramePr>
        <p:xfrm>
          <a:off x="381000" y="1379233"/>
          <a:ext cx="17604104" cy="8846820"/>
        </p:xfrm>
        <a:graphic>
          <a:graphicData uri="http://schemas.openxmlformats.org/drawingml/2006/table">
            <a:tbl>
              <a:tblPr firstRow="1" bandRow="1">
                <a:tableStyle styleId="{729D6073-5DEC-478E-BFBB-120F47F47B7E}" styleName="Light Style 1 - Body/Background 1">
                  <a:wholeTbl>
                    <a:tcTxStyle>
                      <a:fontRef idx="minor">
                        <a:scrgbClr r="0" g="0" b="0"/>
                      </a:fontRef>
                      <a:schemeClr val="tx1"/>
                    </a:tcTxStyle>
                    <a:tcStyle>
                      <a:tcBdr>
                        <a:left>
                          <a:ln>
                            <a:noFill/>
                          </a:ln>
                        </a:left>
                        <a:right>
                          <a:ln>
                            <a:noFill/>
                          </a:ln>
                        </a:right>
                        <a:top>
                          <a:ln w="22700" cmpd="sng">
                            <a:solidFill>
                              <a:schemeClr val="dk1"/>
                            </a:solidFill>
                          </a:ln>
                        </a:top>
                        <a:bottom>
                          <a:ln w="22700" cmpd="sng">
                            <a:solidFill>
                              <a:schemeClr val="dk1"/>
                            </a:solidFill>
                          </a:ln>
                        </a:bottom>
                        <a:insideH>
                          <a:ln>
                            <a:noFill/>
                          </a:ln>
                        </a:insideH>
                        <a:insideV>
                          <a:ln>
                            <a:noFill/>
                          </a:ln>
                        </a:insideV>
                      </a:tcBdr>
                      <a:fill>
                        <a:noFill/>
                      </a:fill>
                    </a:tcStyle>
                  </a:wholeTbl>
                  <a:band1H>
                    <a:tcTxStyle/>
                    <a:tcStyle>
                      <a:tcBdr>
                        <a:top>
                          <a:ln w="10000" cmpd="sng">
                            <a:solidFill>
                              <a:schemeClr val="dk1"/>
                            </a:solidFill>
                          </a:ln>
                        </a:top>
                        <a:bottom>
                          <a:ln w="10000" cmpd="sng">
                            <a:solidFill>
                              <a:schemeClr val="dk1"/>
                            </a:solidFill>
                          </a:ln>
                        </a:bottom>
                      </a:tcBdr>
                      <a:fill>
                        <a:solidFill>
                          <a:schemeClr val="dk1">
                            <a:alpha val="20000"/>
                            <a:tint val="80000"/>
                          </a:schemeClr>
                        </a:solidFill>
                      </a:fill>
                    </a:tcStyle>
                  </a:band1H>
                  <a:band2H>
                    <a:tcTxStyle/>
                    <a:tcStyle>
                      <a:tcBdr/>
                    </a:tcStyle>
                  </a:band2H>
                  <a:band1V>
                    <a:tcTxStyle/>
                    <a:tcStyle>
                      <a:tcBdr/>
                      <a:fill>
                        <a:solidFill>
                          <a:schemeClr val="dk1">
                            <a:alpha val="20000"/>
                          </a:schemeClr>
                        </a:solidFill>
                      </a:fill>
                    </a:tcStyle>
                  </a:band1V>
                  <a:lastCol>
                    <a:tcTxStyle b="on"/>
                    <a:tcStyle>
                      <a:tcBdr/>
                    </a:tcStyle>
                  </a:lastCol>
                  <a:firstCol>
                    <a:tcTxStyle b="on"/>
                    <a:tcStyle>
                      <a:tcBdr/>
                    </a:tcStyle>
                  </a:firstCol>
                  <a:lastRow>
                    <a:tcTxStyle b="on"/>
                    <a:tcStyle>
                      <a:tcBdr>
                        <a:top>
                          <a:ln w="12700" cmpd="dbl">
                            <a:solidFill>
                              <a:schemeClr val="dk1"/>
                            </a:solidFill>
                          </a:ln>
                        </a:top>
                      </a:tcBdr>
                      <a:fill>
                        <a:noFill/>
                      </a:fill>
                    </a:tcStyle>
                  </a:lastRow>
                  <a:firstRow>
                    <a:tcTxStyle b="on"/>
                    <a:tcStyle>
                      <a:tcBdr>
                        <a:bottom>
                          <a:ln w="22700" cmpd="sng">
                            <a:solidFill>
                              <a:schemeClr val="dk1"/>
                            </a:solidFill>
                          </a:ln>
                        </a:bottom>
                      </a:tcBdr>
                      <a:fill>
                        <a:noFill/>
                      </a:fill>
                    </a:tcStyle>
                  </a:firstRow>
                </a:tableStyle>
              </a:tblPr>
              <a:tblGrid>
                <a:gridCol w="2286000"/>
                <a:gridCol w="11736705"/>
                <a:gridCol w="3581400"/>
              </a:tblGrid>
              <a:tr h="429008">
                <a:tc rowSpan="2"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1</a:t>
                      </a: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주차</a:t>
                      </a: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게임에 필요한 리소스 수집</a:t>
                      </a: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  <a:tc rowSpan="2"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endParaRPr lang="en-US" altLang="ko-KR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en-US" altLang="ko-KR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80%</a:t>
                      </a:r>
                      <a:endParaRPr lang="en-US" altLang="ko-KR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</a:tr>
              <a:tr h="429008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ui</a:t>
                      </a: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를 제외한 리소스는 거의 다 찾음</a:t>
                      </a: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29008">
                <a:tc rowSpan="2"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2</a:t>
                      </a: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주차</a:t>
                      </a: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게임 프레임 워크 그리고 리소스가 제대로 작동하는 지 확인</a:t>
                      </a: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  <a:tc rowSpan="2"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  <a:p>
                      <a:pPr lvl="0" algn="ctr" latinLnBrk="1">
                        <a:defRPr/>
                      </a:pPr>
                      <a:r>
                        <a:rPr lang="en-US" altLang="ko-KR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80%</a:t>
                      </a: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</a:tr>
              <a:tr h="429008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게임 프레임 워크와 있는 리소스들이 작동되는지 확인을 다 함</a:t>
                      </a: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29008">
                <a:tc rowSpan="2"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3</a:t>
                      </a: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주차</a:t>
                      </a: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본격적인 코드 짜기</a:t>
                      </a: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  <a:tc rowSpan="2"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</a:tr>
              <a:tr h="429008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29008">
                <a:tc rowSpan="2"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4</a:t>
                      </a: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주차</a:t>
                      </a: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배경과 맵을 구현 그리고 캐릭터 스프라이트 적용</a:t>
                      </a: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  <a:tc rowSpan="2"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</a:tr>
              <a:tr h="429008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31265">
                <a:tc rowSpan="2"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5</a:t>
                      </a: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주차</a:t>
                      </a: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캐릭터의 조작 개발</a:t>
                      </a:r>
                      <a:r>
                        <a:rPr lang="en-US" altLang="ko-KR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스테이지 </a:t>
                      </a:r>
                      <a:r>
                        <a:rPr lang="en-US" altLang="ko-KR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1</a:t>
                      </a: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개발</a:t>
                      </a: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  <a:tc rowSpan="2"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</a:tr>
              <a:tr h="431265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29008">
                <a:tc rowSpan="2"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6</a:t>
                      </a: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주차</a:t>
                      </a: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그림이 무슨 그림인지 알아내는 알고리즘 개발</a:t>
                      </a:r>
                      <a:r>
                        <a:rPr lang="en-US" altLang="ko-KR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,</a:t>
                      </a: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스테이지 </a:t>
                      </a:r>
                      <a:r>
                        <a:rPr lang="en-US" altLang="ko-KR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2</a:t>
                      </a: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개발</a:t>
                      </a: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  <a:tc rowSpan="2"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</a:tr>
              <a:tr h="429008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29008">
                <a:tc rowSpan="2"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7</a:t>
                      </a: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주차</a:t>
                      </a: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스테이지 </a:t>
                      </a:r>
                      <a:r>
                        <a:rPr lang="en-US" altLang="ko-KR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3</a:t>
                      </a: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 개발</a:t>
                      </a: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  <a:tc rowSpan="2"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</a:tr>
              <a:tr h="429008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/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29008">
                <a:tc rowSpan="2"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8</a:t>
                      </a: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주차</a:t>
                      </a: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UI/</a:t>
                      </a: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디버깅</a:t>
                      </a: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rowSpan="2"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29008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29008">
                <a:tc rowSpan="2"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9</a:t>
                      </a: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주차</a:t>
                      </a: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2600" b="1">
                          <a:solidFill>
                            <a:schemeClr val="bg1"/>
                          </a:solidFill>
                          <a:latin typeface="맑은 고딕"/>
                          <a:cs typeface="둥근모꼴"/>
                        </a:rPr>
                        <a:t>최종 검사</a:t>
                      </a: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rowSpan="2"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429008"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lvl="0" algn="ctr" latinLnBrk="1">
                        <a:defRPr/>
                      </a:pPr>
                      <a:endParaRPr lang="ko-KR" altLang="en-US" sz="2600" b="1">
                        <a:solidFill>
                          <a:schemeClr val="bg1"/>
                        </a:solidFill>
                        <a:latin typeface="맑은 고딕"/>
                        <a:cs typeface="둥근모꼴"/>
                      </a:endParaRPr>
                    </a:p>
                  </a:txBody>
                  <a:tcPr marL="91440" marR="9144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vMerge="1">
                  <a:txBody>
                    <a:bodyPr wrap="square">
                      <a:spAutoFit/>
                    </a:bodyPr>
                    <a:p>
                      <a:pPr lvl="0"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8652775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2147483647" cy="2147483647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8300700" cy="10325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8</ep:Words>
  <ep:PresentationFormat>On-screen Show (4:3)</ep:PresentationFormat>
  <ep:Paragraphs>3</ep:Paragraphs>
  <ep:Slides>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ep:HeadingPairs>
  <ep:TitlesOfParts>
    <vt:vector size="4" baseType="lpstr">
      <vt:lpstr>Office Theme</vt:lpstr>
      <vt:lpstr>슬라이드 1</vt:lpstr>
      <vt:lpstr>슬라이드 2</vt:lpstr>
      <vt:lpstr>슬라이드 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kirby</cp:lastModifiedBy>
  <dcterms:modified xsi:type="dcterms:W3CDTF">2025-11-10T06:06:28.121</dcterms:modified>
  <cp:revision>17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