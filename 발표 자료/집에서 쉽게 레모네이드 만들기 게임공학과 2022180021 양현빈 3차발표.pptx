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8" r:id="rId1"/>
  </p:sldMasterIdLst>
  <p:notesMasterIdLst>
    <p:notesMasterId r:id="rId2"/>
  </p:notesMasterIdLst>
  <p:sldIdLst>
    <p:sldId id="256" r:id="rId3"/>
    <p:sldId id="257" r:id="rId4"/>
    <p:sldId id="258" r:id="rId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705" autoAdjust="0"/>
  </p:normalViewPr>
  <p:slideViewPr>
    <p:cSldViewPr snapToObjects="1">
      <p:cViewPr>
        <p:scale>
          <a:sx n="60" d="100"/>
          <a:sy n="60" d="100"/>
        </p:scale>
        <p:origin x="-1092" y="-90"/>
      </p:cViewPr>
      <p:guideLst>
        <p:guide orient="horz" pos="3239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presProps" Target="presProps.xml"  /><Relationship Id="rId7" Type="http://schemas.openxmlformats.org/officeDocument/2006/relationships/viewProps" Target="viewProps.xml"  /><Relationship Id="rId8" Type="http://schemas.openxmlformats.org/officeDocument/2006/relationships/theme" Target="theme/theme1.xml"  /><Relationship Id="rId9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910277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300700" cy="10325100"/>
          </a:xfrm>
          <a:prstGeom prst="rect">
            <a:avLst/>
          </a:prstGeom>
        </p:spPr>
      </p:pic>
      <p:sp>
        <p:nvSpPr>
          <p:cNvPr id="4" name="가로 글상자 3"/>
          <p:cNvSpPr txBox="1"/>
          <p:nvPr/>
        </p:nvSpPr>
        <p:spPr>
          <a:xfrm>
            <a:off x="9296400" y="8155303"/>
            <a:ext cx="2971800" cy="95059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5700">
                <a:solidFill>
                  <a:schemeClr val="lt1"/>
                </a:solidFill>
              </a:rPr>
              <a:t>3</a:t>
            </a:r>
            <a:r>
              <a:rPr lang="ko-KR" altLang="en-US" sz="5700">
                <a:solidFill>
                  <a:schemeClr val="lt1"/>
                </a:solidFill>
              </a:rPr>
              <a:t>차 발표</a:t>
            </a:r>
            <a:endParaRPr lang="ko-KR" altLang="en-US" sz="5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"/>
            <a:ext cx="18288000" cy="1028699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667000" y="3238500"/>
            <a:ext cx="12268200" cy="4267200"/>
          </a:xfrm>
          <a:prstGeom prst="rect">
            <a:avLst/>
          </a:prstGeom>
          <a:solidFill>
            <a:srgbClr val="1a191d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3962399" y="329565"/>
            <a:ext cx="10363200" cy="100393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6000" b="1">
                <a:solidFill>
                  <a:schemeClr val="lt1"/>
                </a:solidFill>
              </a:rPr>
              <a:t>개발 </a:t>
            </a:r>
            <a:r>
              <a:rPr lang="ko-KR" altLang="en-US" sz="6000" b="1">
                <a:solidFill>
                  <a:schemeClr val="lt1"/>
                </a:solidFill>
              </a:rPr>
              <a:t>진척도</a:t>
            </a:r>
            <a:endParaRPr lang="ko-KR" altLang="en-US" sz="6000" b="1">
              <a:solidFill>
                <a:schemeClr val="lt1"/>
              </a:solidFill>
            </a:endParaRPr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/>
        </p:nvGraphicFramePr>
        <p:xfrm>
          <a:off x="341114" y="1181100"/>
          <a:ext cx="17608152" cy="8439889"/>
        </p:xfrm>
        <a:graphic>
          <a:graphicData uri="http://schemas.openxmlformats.org/drawingml/2006/table">
            <a:tbl>
              <a:tblPr firstRow="1" bandRow="1"/>
              <a:tblGrid>
                <a:gridCol w="2202180"/>
                <a:gridCol w="6602730"/>
                <a:gridCol w="6602730"/>
                <a:gridCol w="2200513"/>
              </a:tblGrid>
              <a:tr h="7452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내용</a:t>
                      </a:r>
                      <a:endParaRPr lang="ko-KR" altLang="en-US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구현 목표</a:t>
                      </a:r>
                      <a:endParaRPr lang="ko-KR" altLang="en-US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실제 구현</a:t>
                      </a:r>
                      <a:endParaRPr lang="ko-KR" altLang="en-US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진척도</a:t>
                      </a:r>
                      <a:endParaRPr lang="ko-KR" altLang="en-US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</a:tr>
              <a:tr h="745223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리소스</a:t>
                      </a:r>
                      <a:endParaRPr lang="ko-KR" altLang="en-US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스테이지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플레이어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사운드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UI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등 리소스 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만들거나 가져와서 적용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스테이지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플레이어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사운드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UI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등 리소스 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만들거나 가져와서 적용</a:t>
                      </a:r>
                      <a:endParaRPr lang="en-US" altLang="ko-KR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100%</a:t>
                      </a:r>
                      <a:endParaRPr lang="en-US" altLang="ko-KR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</a:tr>
              <a:tr h="1209756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스테이지</a:t>
                      </a:r>
                      <a:endParaRPr lang="ko-KR" altLang="en-US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3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개의 스테이지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1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스테이지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: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총 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5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페이즈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몬스터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보스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배경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2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스테이지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: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보스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스크롤링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배경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블록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3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스테이지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움직이는 배경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총 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3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페이지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보스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블록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3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개의 스테이지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1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스테이지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: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총 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5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페이즈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몬스터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보스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배경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2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스테이지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: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보스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스크롤링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배경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블록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3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스테이지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움직이는 배경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총 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3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페이지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보스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블록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100%</a:t>
                      </a:r>
                      <a:endParaRPr lang="ko-KR" altLang="en-US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</a:tr>
              <a:tr h="985727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캐릭터</a:t>
                      </a:r>
                      <a:endParaRPr lang="en-US" altLang="ko-KR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ad: 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움직임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더블 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ad: 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구르기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스페이스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: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점프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시프트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: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달리기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ad: 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움직임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더블 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ad: 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구르기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스페이스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: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점프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시프트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: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달리기</a:t>
                      </a:r>
                      <a:endParaRPr lang="en-US" altLang="ko-KR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100%</a:t>
                      </a:r>
                      <a:endParaRPr lang="en-US" altLang="ko-KR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</a:tr>
              <a:tr h="1209755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사운드</a:t>
                      </a:r>
                      <a:endParaRPr lang="ko-KR" altLang="en-US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ui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클릭음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보스들 효과음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효과음 조절 기능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캐릭터 효과음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배경 효과음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ui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클릭음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보스들 효과음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효과음 조절 기능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캐릭터 효과음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배경 효과음</a:t>
                      </a:r>
                      <a:endParaRPr lang="en-US" altLang="ko-KR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100%</a:t>
                      </a:r>
                      <a:endParaRPr lang="en-US" altLang="ko-KR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</a:tr>
              <a:tr h="1433785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UI</a:t>
                      </a:r>
                      <a:endParaRPr lang="ko-KR" altLang="en-US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로고 이미지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타이틀 이미지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옵션 이미지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메인 화면 이미지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상점 이미지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각종 버튼 이미지 및 그림 그려지는 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UI</a:t>
                      </a:r>
                      <a:endParaRPr lang="en-US" altLang="ko-KR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로고 이미지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타이틀 이미지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옵션 이미지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메인 화면 이미지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상점 이미지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각종 버튼 이미지 및 그림 그려지는 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UI</a:t>
                      </a:r>
                      <a:endParaRPr lang="en-US" altLang="ko-KR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100%</a:t>
                      </a:r>
                      <a:endParaRPr lang="en-US" altLang="ko-KR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</a:tr>
              <a:tr h="985727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충돌</a:t>
                      </a:r>
                      <a:endParaRPr lang="ko-KR" altLang="en-US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ui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와 마우스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보스 자신이나 보스 생성 오브젝트와 플레이어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ui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와 마우스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보스 자신이나 보스 생성 오브젝트와 플레이어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endParaRPr lang="en-US" altLang="ko-KR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100%</a:t>
                      </a:r>
                      <a:endParaRPr lang="en-US" altLang="ko-KR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</a:tr>
              <a:tr h="1005841"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알고리즘</a:t>
                      </a:r>
                      <a:endParaRPr lang="ko-KR" altLang="en-US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$Q Super-Quick Recognize 구현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모양은 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10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개 이상으로 하고 하나 모양 당 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10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번씩 그려서 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xml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로 저장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xml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로 부르면 점들이 많아 시간이 오래 걸리기에 캐시로 부르게 만듬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$Q Super-Quick Recognize 구현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모양은 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17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개 이고 하나 모양 당 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10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번씩 그려서 </a:t>
                      </a: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xml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로 저장</a:t>
                      </a:r>
                      <a:endParaRPr lang="ko-KR" altLang="en-US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en-US" altLang="ko-KR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xml</a:t>
                      </a:r>
                      <a:r>
                        <a:rPr lang="ko-KR" altLang="en-US" sz="1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로 부르면 점들이 많아 시간이 오래 걸리기에 캐시로 부르게 만듬</a:t>
                      </a:r>
                      <a:endParaRPr lang="en-US" altLang="ko-KR" sz="1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lvl="0" algn="ctr" latinLnBrk="1">
                        <a:defRPr/>
                      </a:pPr>
                      <a:r>
                        <a:rPr lang="en-US" altLang="ko-KR" sz="25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100%</a:t>
                      </a:r>
                      <a:endParaRPr lang="en-US" altLang="ko-KR" sz="25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147483648" cy="2147483648"/>
            <a:chOff x="0" y="0"/>
            <a:chExt cx="914400" cy="914400"/>
          </a:xfrm>
        </p:grpSpPr>
      </p:grpSp>
      <p:pic>
        <p:nvPicPr>
          <p:cNvPr id="4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"/>
            <a:ext cx="18288000" cy="10286998"/>
          </a:xfrm>
          <a:prstGeom prst="rect">
            <a:avLst/>
          </a:prstGeom>
        </p:spPr>
      </p:pic>
      <p:sp>
        <p:nvSpPr>
          <p:cNvPr id="5" name="가로 글상자 3"/>
          <p:cNvSpPr txBox="1"/>
          <p:nvPr/>
        </p:nvSpPr>
        <p:spPr>
          <a:xfrm>
            <a:off x="3962399" y="329565"/>
            <a:ext cx="10363200" cy="1003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6000" b="1">
                <a:solidFill>
                  <a:schemeClr val="lt1"/>
                </a:solidFill>
              </a:rPr>
              <a:t>Github</a:t>
            </a:r>
            <a:r>
              <a:rPr lang="ko-KR" altLang="en-US" sz="6000" b="1">
                <a:solidFill>
                  <a:schemeClr val="lt1"/>
                </a:solidFill>
              </a:rPr>
              <a:t> </a:t>
            </a:r>
            <a:r>
              <a:rPr lang="en-US" altLang="ko-KR" sz="6000" b="1">
                <a:solidFill>
                  <a:schemeClr val="lt1"/>
                </a:solidFill>
              </a:rPr>
              <a:t>commits</a:t>
            </a:r>
            <a:endParaRPr lang="en-US" altLang="ko-KR" sz="6000" b="1">
              <a:solidFill>
                <a:schemeClr val="lt1"/>
              </a:solidFill>
            </a:endParaRPr>
          </a:p>
        </p:txBody>
      </p:sp>
      <p:sp>
        <p:nvSpPr>
          <p:cNvPr id="6" name="직사각형 2"/>
          <p:cNvSpPr/>
          <p:nvPr/>
        </p:nvSpPr>
        <p:spPr>
          <a:xfrm>
            <a:off x="2667000" y="3238500"/>
            <a:ext cx="12268200" cy="4267200"/>
          </a:xfrm>
          <a:prstGeom prst="rect">
            <a:avLst/>
          </a:prstGeom>
          <a:solidFill>
            <a:srgbClr val="1a191d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000" y="1571784"/>
            <a:ext cx="9511518" cy="8296115"/>
          </a:xfrm>
          <a:prstGeom prst="rect">
            <a:avLst/>
          </a:prstGeom>
        </p:spPr>
      </p:pic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9892518" y="1571785"/>
          <a:ext cx="7709682" cy="8296114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3854841"/>
                <a:gridCol w="3854841"/>
              </a:tblGrid>
              <a:tr h="75419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Week of 28 Sep,2025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</a:tr>
              <a:tr h="75419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Week of 5 Oct,2025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</a:tr>
              <a:tr h="75419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Week of 12 Oct,2025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</a:tr>
              <a:tr h="75419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Week of 19 Oct,2025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</a:tr>
              <a:tr h="75419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Week of 26 Oct,2025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</a:tr>
              <a:tr h="75419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Week of 2 Nov,2025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173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</a:tr>
              <a:tr h="75419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Week of 9 Nov,2025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172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</a:tr>
              <a:tr h="75419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Week of 16 Nov,2025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166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</a:tr>
              <a:tr h="75419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Week of 23 Nov,2025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177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</a:tr>
              <a:tr h="75419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Week of 30 Nov,2025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185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</a:tr>
              <a:tr h="75419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Week of 7 Dec2025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500">
                          <a:solidFill>
                            <a:schemeClr val="tx1"/>
                          </a:solidFill>
                        </a:rPr>
                        <a:t>97</a:t>
                      </a:r>
                      <a:endParaRPr lang="en-US" altLang="ko-KR" sz="25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</ep:Words>
  <ep:PresentationFormat>On-screen Show (4:3)</ep:PresentationFormat>
  <ep:Paragraphs>5</ep:Paragraphs>
  <ep:Slides>3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Office Theme</vt:lpstr>
      <vt:lpstr>슬라이드 1</vt:lpstr>
      <vt:lpstr>슬라이드 2</vt:lpstr>
      <vt:lpstr>슬라이드 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kirby</cp:lastModifiedBy>
  <dcterms:modified xsi:type="dcterms:W3CDTF">2025-12-09T19:32:55.013</dcterms:modified>
  <cp:revision>33</cp:revision>
  <cp:version>1000.0000.01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